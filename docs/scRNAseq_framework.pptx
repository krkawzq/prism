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21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D9488">
              <a:alpha val="6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单细胞RNA测序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从技术流程到概率建模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噪声分层解剖  ·  信号提取框架  ·  Poisson-LogNormal Stage 0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目 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3152" cy="5029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26187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RNA测序基本原理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5361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从RNA分子到UMI Count矩阵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73152" cy="502920"/>
          </a:xfrm>
          <a:prstGeom prst="rect">
            <a:avLst/>
          </a:prstGeom>
          <a:solidFill>
            <a:srgbClr val="1A4B6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4B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993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真核 vs 原核测序流程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677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10x Genomics Chromium · M3-seq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3152" cy="50292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272491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噪声分层解剖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299923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固定因子 · 细胞效率 · 伯努利采样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73152" cy="502920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45643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为什么不能直接用raw count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7307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采样随机性 · log1p的缺陷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73152" cy="50292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012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187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概率建模框架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446227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0: Poisson-LogNormal EM → Stage 1: Per-gene F_g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RNA测序基本原理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从RNA分子到UMI Count矩阵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为什么要测RNA？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核心逻辑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33832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DNA（基因组）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所有细胞几乎相同 → 不反映细胞状态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mRNA（转录组）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反映基因表达 → 决定细胞「是什么」「在做什么」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RNA-seq的目标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数出每个细胞中每个基因有多少条mRNA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983480" y="13258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测序流程概览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83480" y="1828800"/>
            <a:ext cx="320040" cy="320040"/>
          </a:xfrm>
          <a:prstGeom prst="rect">
            <a:avLst/>
          </a:prstGeom>
          <a:solidFill>
            <a:srgbClr val="0F2B4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1810512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RNA → cDNA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984248"/>
            <a:ext cx="30175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反转录（引物选择是关键）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2304288"/>
            <a:ext cx="320040" cy="320040"/>
          </a:xfrm>
          <a:prstGeom prst="rect">
            <a:avLst/>
          </a:prstGeom>
          <a:solidFill>
            <a:srgbClr val="0F2B4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230428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228600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条形码标记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459736"/>
            <a:ext cx="30175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细胞条形码 + UMI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2779776"/>
            <a:ext cx="320040" cy="320040"/>
          </a:xfrm>
          <a:prstGeom prst="rect">
            <a:avLst/>
          </a:prstGeom>
          <a:solidFill>
            <a:srgbClr val="0F2B4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983480" y="2779776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27614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PCR扩增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935224"/>
            <a:ext cx="30175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UMI消除扩增偏差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255264"/>
            <a:ext cx="320040" cy="320040"/>
          </a:xfrm>
          <a:prstGeom prst="rect">
            <a:avLst/>
          </a:prstGeom>
          <a:solidFill>
            <a:srgbClr val="0F2B4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83480" y="325526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3236976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Illumina测序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410712"/>
            <a:ext cx="30175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短reads (100-300bp)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3730752"/>
            <a:ext cx="320040" cy="320040"/>
          </a:xfrm>
          <a:prstGeom prst="rect">
            <a:avLst/>
          </a:prstGeom>
          <a:solidFill>
            <a:srgbClr val="0F2B4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83480" y="373075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371246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Count矩阵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886200"/>
            <a:ext cx="30175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基因 × 细胞的UMI计数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真核 vs 原核测序流程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10x Genomics Chromium · M3-seq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10x Genomics Chromium — 真核细胞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54480" cy="1645920"/>
          </a:xfrm>
          <a:prstGeom prst="rect">
            <a:avLst/>
          </a:prstGeom>
          <a:solidFill>
            <a:srgbClr val="D1FAE5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细胞悬液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活细胞 · 单细胞分散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浓度 700-1200/μL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55448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76272" y="1097280"/>
            <a:ext cx="1554480" cy="1645920"/>
          </a:xfrm>
          <a:prstGeom prst="rect">
            <a:avLst/>
          </a:prstGeom>
          <a:solidFill>
            <a:srgbClr val="DBEAFE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267712" y="11887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GEM生成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67712" y="155448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微流控液滴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1细胞 + 1微珠/液滴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30752" y="155448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95344" y="1097280"/>
            <a:ext cx="1554480" cy="1645920"/>
          </a:xfrm>
          <a:prstGeom prst="rect">
            <a:avLst/>
          </a:prstGeom>
          <a:solidFill>
            <a:srgbClr val="EDE9FE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986784" y="11887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液滴内RT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86784" y="155448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polyT引物捕获mRNA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反转录 → cDNA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9824" y="155448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4416" y="1097280"/>
            <a:ext cx="1554480" cy="1645920"/>
          </a:xfrm>
          <a:prstGeom prst="rect">
            <a:avLst/>
          </a:prstGeom>
          <a:solidFill>
            <a:srgbClr val="FEF3C7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705856" y="11887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文库构建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05856" y="155448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PCR扩增 · 片段化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Illumina接头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68896" y="155448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33488" y="1097280"/>
            <a:ext cx="1554480" cy="1645920"/>
          </a:xfrm>
          <a:prstGeom prst="rect">
            <a:avLst/>
          </a:prstGeom>
          <a:solidFill>
            <a:srgbClr val="D1FAE5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424928" y="11887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Count矩阵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4928" y="155448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 Ranger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UMI去重 · 细胞过滤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063240"/>
            <a:ext cx="786384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68680" y="31546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关键参数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520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3K-12K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8680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回收细胞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04872" y="3520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1K-50K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04872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总UMI/细胞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41064" y="3520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2K-8K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941064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检测基因/细胞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77256" y="3520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10-30%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77256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捕获效率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13448" y="3520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70-90%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13448" y="4023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零值比例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polyT捕获机制与引物结构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11480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凝胶微珠引物结构 (5'→3')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691640"/>
            <a:ext cx="3474720" cy="438912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Illumina Read 1 接头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固定序列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286000"/>
            <a:ext cx="3474720" cy="438912"/>
          </a:xfrm>
          <a:prstGeom prst="rect">
            <a:avLst/>
          </a:prstGeom>
          <a:solidFill>
            <a:srgbClr val="1A4B6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10x 条形码 (Cell BC)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bp · ~750K种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880360"/>
            <a:ext cx="3474720" cy="43891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880360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bp · 随机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474720"/>
            <a:ext cx="3474720" cy="438912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poly(dT)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474720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nt · 捕获polyA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160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同一微珠上所有引物共享 Cell BC，UMI各不相同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097280"/>
            <a:ext cx="356616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257800" y="11887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polyT选择性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1691640"/>
            <a:ext cx="31089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</a:rPr>
              <a:t>✓  mRNA（有polyA尾巴）→ 被捕获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✗  rRNA（占80-90%）→ 天然排除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✗  tRNA → 排除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无需额外rRNA去除步骤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</a:rPr>
              <a:t>捕获效率约10-30%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原因：引物扩散不完全、反转录酶效率有限、RNA部分降解、空间限制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M3-seq — 原核单细胞测序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840480" cy="1828800"/>
          </a:xfrm>
          <a:prstGeom prst="rect">
            <a:avLst/>
          </a:prstGeom>
          <a:solidFill>
            <a:srgbClr val="FEE2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68680" y="11155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原核测序的特殊挑战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444752"/>
            <a:ext cx="33832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无polyA尾巴 → 必须用random hexamer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rRNA占80-97% → 测序资源极度浪费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细胞仅~1μm · mRNA仅1K-3K条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mRNA半衰期2-8min → 需快速固定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坚硬细胞壁 → 需酶透化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840480" cy="1828800"/>
          </a:xfrm>
          <a:prstGeom prst="rect">
            <a:avLst/>
          </a:prstGeom>
          <a:solidFill>
            <a:srgbClr val="D1FAE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983480" y="11155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M3-seq的解法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444752"/>
            <a:ext cx="33832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组合索引（96 BC1 × 100K BC2）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→ 不依赖严格单细胞隔离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扩增后rRNA去除（Post hoc）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→ 先无差别RT+PCR，再RNase H消化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9488"/>
                </a:solidFill>
              </a:rPr>
              <a:t>→ mRNA比例 3-10% ↑ ~65%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M3-seq实验流程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2801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28016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固定+透化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甲醛固定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溶菌酶透化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3840480"/>
            <a:ext cx="155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92808" y="3566160"/>
            <a:ext cx="12801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92808" y="3566160"/>
            <a:ext cx="128016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938528" y="36576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板内RT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38528" y="397764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hex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BC1 + UMI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72968" y="3840480"/>
            <a:ext cx="155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28416" y="3566160"/>
            <a:ext cx="12801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328416" y="3566160"/>
            <a:ext cx="128016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374136" y="36576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液滴连接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4136" y="397764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10x ATAC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BC2标记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08576" y="3840480"/>
            <a:ext cx="155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64024" y="3566160"/>
            <a:ext cx="12801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764024" y="3566160"/>
            <a:ext cx="128016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809744" y="36576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扩增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9744" y="397764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Tn5片段化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44184" y="3840480"/>
            <a:ext cx="155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99632" y="3566160"/>
            <a:ext cx="12801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199632" y="3566160"/>
            <a:ext cx="128016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245352" y="36576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rRNA去除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397764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IVT→探针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→RNase 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79792" y="3840480"/>
            <a:ext cx="1554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35240" y="3566160"/>
            <a:ext cx="12801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7635240" y="3566160"/>
            <a:ext cx="128016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680960" y="36576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397764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Illumina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 reads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真核 vs 原核：关键差异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1051560"/>
          <a:ext cx="7863840" cy="3072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特征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真核 (10x Genomics)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原核 (M3-seq)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捕获方式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polyT引物（mRNA特异性）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hexamer（全RNA）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rRNA处理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polyT天然排除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Post hoc RNase H去除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每细胞mRNA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100K-300K条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1K-3K条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每细胞UMI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1K-50K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100-1K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检测基因/细胞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2K-8K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72-371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转录组覆盖率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20-30%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2-4%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零值比例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70-90%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95-98%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核心结论：测序只捕获了真实转录组的极小随机样本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噪声分层解剖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固定因子 · 细胞效率 · 伯努利采样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三层观测模型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2468880" cy="2194560"/>
          </a:xfrm>
          <a:prstGeom prst="rect">
            <a:avLst/>
          </a:prstGeom>
          <a:solidFill>
            <a:srgbClr val="D1FAE5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43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45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信号源 F_g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p_gc ~ F_g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基因g在细胞群体中的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表达活性底层分布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可为单峰 / 双峰 / 重尾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08960" y="1920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474720" y="1051560"/>
            <a:ext cx="2468880" cy="2194560"/>
          </a:xfrm>
          <a:prstGeom prst="rect">
            <a:avLst/>
          </a:prstGeom>
          <a:solidFill>
            <a:srgbClr val="FEF3C7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43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细胞效率 ε_c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11880" y="196596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log(ε_c) ~ N(μ_ε, σ²_ε)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跨基因共享的乘性因子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固定·透化·反应效率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对数正态分布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0" y="1920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6309360" y="1051560"/>
            <a:ext cx="2468880" cy="2194560"/>
          </a:xfrm>
          <a:prstGeom prst="rect">
            <a:avLst/>
          </a:prstGeom>
          <a:solidFill>
            <a:srgbClr val="DBEAFE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1430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16459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伯努利采样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196596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X_gc ~ Binom(N_c, μ̃_gc/M_c)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每条mRNA独立捕获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唯一的随机性来源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基因间独立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3520440"/>
            <a:ext cx="7863840" cy="1234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868680" y="3611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基因特异性固定因子 α_g  — 不需要建模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3977640"/>
            <a:ext cx="7406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hexamer偏好性 · rRNA去除附带损伤 · 基因长度效应 · 甲醛交联偏好性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这些因子由基因序列决定，跨细胞恒定 → 细胞间比较时自动消除，无需校正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噪声源分类总结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005840"/>
          <a:ext cx="8229600" cy="312724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来源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类型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作用维度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是否建模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处理方式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F_g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信号源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基因×细胞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核心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混合分布拟合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ε_c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乘性扰动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细胞(跨基因)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是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对数正态分布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Binomial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统计特性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基因×细胞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是(通道)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已知分布纳入模型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Hexamer偏好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固定常数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基因(跨细胞)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否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自动消除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rRNA去除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固定常数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基因(跨细胞)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否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自动消除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基因长度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固定常数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基因(跨细胞)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否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自动消除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PCR偏差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残余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极小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否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忽略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批次效应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系统性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批次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不跨批次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各批次独立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0F2B4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68680" y="429768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核心结论：控制ε_c后，观测数据中基因间的任何相关性都是生物信号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为什么不能直接用 Raw Count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采样随机性的量化分析 · log1p的根本缺陷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伯努利采样的随机性有多大？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M3-seq E. coli参数：p ≈ 0.05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743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高表达 n=100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E[X]=5  SD≈2.18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100个同质细胞 → count分布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从2到9+广泛分散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926080"/>
            <a:ext cx="1691640" cy="457200"/>
          </a:xfrm>
          <a:prstGeom prst="rect">
            <a:avLst/>
          </a:prstGeom>
          <a:solidFill>
            <a:srgbClr val="FEE2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4-5倍差异，100%是噪声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8608" y="1188720"/>
            <a:ext cx="1965960" cy="2743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578608" y="1188720"/>
            <a:ext cx="1965960" cy="54864"/>
          </a:xfrm>
          <a:prstGeom prst="rect">
            <a:avLst/>
          </a:prstGeom>
          <a:solidFill>
            <a:srgbClr val="1A4B6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670048" y="13258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B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中表达 n=20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70048" y="164592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E[X]=1  SD≈0.97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0048" y="1965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36%细胞观测到 count=0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CV≈1，噪声≈信号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15768" y="2926080"/>
            <a:ext cx="1691640" cy="457200"/>
          </a:xfrm>
          <a:prstGeom prst="rect">
            <a:avLst/>
          </a:prstGeom>
          <a:solidFill>
            <a:srgbClr val="FEE2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15768" y="2926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「没采到」≠「没表达」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0016" y="1188720"/>
            <a:ext cx="1965960" cy="2743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00016" y="1188720"/>
            <a:ext cx="1965960" cy="54864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791456" y="13258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低表达 n=5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91456" y="164592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E[X]=0.25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1965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77%细胞 count=0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20%细胞 count=1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37176" y="2926080"/>
            <a:ext cx="1691640" cy="457200"/>
          </a:xfrm>
          <a:prstGeom prst="rect">
            <a:avLst/>
          </a:prstGeom>
          <a:solidFill>
            <a:srgbClr val="FEE2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37176" y="2926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几乎无信息可提取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21424" y="1188720"/>
            <a:ext cx="1965960" cy="2743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821424" y="1188720"/>
            <a:ext cx="1965960" cy="54864"/>
          </a:xfrm>
          <a:prstGeom prst="rect">
            <a:avLst/>
          </a:prstGeom>
          <a:solidFill>
            <a:srgbClr val="EF444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912864" y="13258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跨基因混淆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2864" y="164592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A(n=40) vs B(n=8)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1965960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两个基因都观测到1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低于期望 · B: 高于期望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58584" y="2926080"/>
            <a:ext cx="1691640" cy="457200"/>
          </a:xfrm>
          <a:prstGeom prst="rect">
            <a:avLst/>
          </a:prstGeom>
          <a:solidFill>
            <a:srgbClr val="FEE2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958584" y="292608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count空间中不可区分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 err="1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ML模型</a:t>
            </a:r>
            <a:r>
              <a:rPr lang="zh-CN" altLang="en-US" sz="1300" b="1" i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可以</a:t>
            </a:r>
            <a:r>
              <a:rPr lang="en-US" sz="1300" b="1" i="1" dirty="0" err="1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学习随机过程</a:t>
            </a:r>
            <a:r>
              <a:rPr lang="en-US" sz="1300" b="1" i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→ </a:t>
            </a:r>
            <a:r>
              <a:rPr lang="en-US" sz="1300" b="1" i="1" dirty="0" err="1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直接在count空间</a:t>
            </a:r>
            <a:r>
              <a:rPr lang="zh-CN" altLang="en-US" sz="1300" b="1" i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自监督</a:t>
            </a:r>
            <a:r>
              <a:rPr lang="en-US" sz="1300" b="1" i="1" dirty="0" err="1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训练必然过拟合噪声或丢失信号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log1p变换的四个根本缺陷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80467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22960" y="1197864"/>
            <a:ext cx="502920" cy="502920"/>
          </a:xfrm>
          <a:prstGeom prst="ellipse">
            <a:avLst/>
          </a:prstGeom>
          <a:solidFill>
            <a:srgbClr val="EF444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19786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12471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忽略基因间差异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435608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对所有基因施加相同变换，但不同基因的采样参数（n, p）完全不同。同一count值在不同基因中含义截然不同。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0467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57984"/>
            <a:ext cx="502920" cy="50292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08483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无法恢复零信息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395728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高表达基因的count=0（P=0.6%，极异常）与低表达基因的count=0（P=86%，完全正常）都映射为0。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7863840" cy="80467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2960" y="3118104"/>
            <a:ext cx="502920" cy="502920"/>
          </a:xfrm>
          <a:prstGeom prst="ellipse">
            <a:avLst/>
          </a:prstGeom>
          <a:solidFill>
            <a:srgbClr val="7C3AE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31181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0449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不提供可信度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355848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每个值被同等对待，无机制告知下游模型「这个观测可不可信」。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7863840" cy="80467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2960" y="4078224"/>
            <a:ext cx="502920" cy="502920"/>
          </a:xfrm>
          <a:prstGeom prst="ellipse">
            <a:avLst/>
          </a:prstGeom>
          <a:solidFill>
            <a:srgbClr val="1A4B6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0782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400507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B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归一化伪相关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315968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count归一化使所有基因比例之和=1 → 基因间引入负相关伪信号，严重干扰GRN推断。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根本问题：每个基因有独特的底层分布 F_g → 统一变换不可行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概率建模框架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0: Poisson-LogNormal → Stage 1: Per-gene F_g 拟合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完整生成模型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solidFill>
            <a:srgbClr val="D1FAE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生物层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p_gc ∈ (0,1)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   相对基因活性，由细胞类型/状态决定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L_g &gt; 0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   基因表达域长（最大可达分子数）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μ_gc = L_g · p_gc</a:t>
            </a:r>
            <a:r>
              <a:rPr lang="en-US" sz="1200" dirty="0">
                <a:solidFill>
                  <a:srgbClr val="334155"/>
                </a:solidFill>
              </a:rPr>
              <a:t>   真实基因表达量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solidFill>
            <a:srgbClr val="FEF3C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噪声层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ε_c &gt; 0  ·  log(ε_c) ~ N(μ_ε, σ²_ε)  ·  细胞共享乘性因子（捕获效率 · 裂解效率 · 文库质量）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solidFill>
            <a:srgbClr val="DBEA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B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观测层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74980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μ̃_gc = ε_c · L_g · p_gc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   扰动后表达量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M_c = Σ_g μ̃_gc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   有效采样空间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</a:rPr>
              <a:t>X_gc | N_c ~ Binom( N_c,  μ̃_gc / M_c ) = Binom( N_c,  L_g·p_gc / Σ L_g'·p_g'c 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关键性质：ε_c在分子式的分子分母中约掉 → 观测比例只取决于相对活性p_gc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Stage 0：从Total Count估计细胞效率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8404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动机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Per-gene方程的分母 Σ L_g'·p_g'c 未知且耦合所有基因。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利用total count N_c 预先估计，将基因间解耦。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近似：Σ L_g'·p_g'c ≈ 常数 S（大量基因求和后稳定）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983480" y="1051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Poisson-LogNormal 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N_c ~ Poisson(η_c)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log(η_c) ~ N(μ, σ²)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待估参数仅两个标量：(μ, σ)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η_c = S · ε_c  ← 吸收全局常数S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7863840" cy="2148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68680" y="2670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EM算法求解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063240"/>
            <a:ext cx="3474720" cy="1005840"/>
          </a:xfrm>
          <a:prstGeom prst="rect">
            <a:avLst/>
          </a:prstGeom>
          <a:solidFill>
            <a:srgbClr val="EDE9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108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E-step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3832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对每个细胞c，计算隐变量后验：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P(η_c | N_c, μ, σ) ∝ Pois(N_c|η_c)·LogN(η_c|μ,σ²)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一维分布 → 数值积分求解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3063240"/>
            <a:ext cx="3474720" cy="1005840"/>
          </a:xfrm>
          <a:prstGeom prst="rect">
            <a:avLst/>
          </a:prstGeom>
          <a:solidFill>
            <a:srgbClr val="EDE9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M-step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3832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更新参数：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μ ← (1/C) Σ_c E[log η_c | N_c]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σ² ← (1/C) Σ_c E[(log η_c - μ)² | N_c]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迭代至收敛（参数量小、后验光滑）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2062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点估计：  η̂_c = argmax P(η | N_c, μ̂, σ̂)   →   一维优化，grid上取argmax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Stage 0 → Stage 1：基因解耦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200400" cy="1463040"/>
          </a:xfrm>
          <a:prstGeom prst="rect">
            <a:avLst/>
          </a:prstGeom>
          <a:solidFill>
            <a:srgbClr val="EDE9FE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Stage 0 输出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每个细胞的效率估计 η̂_c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（后验众数）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全局参数 (μ̂, σ̂)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5544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389120" y="1051560"/>
            <a:ext cx="4389120" cy="1463040"/>
          </a:xfrm>
          <a:prstGeom prst="rect">
            <a:avLst/>
          </a:prstGeom>
          <a:solidFill>
            <a:srgbClr val="D1FAE5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Stage 1 输入：解耦的 per-gene 方程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X_gc | N_c  ~  Binom( N_c,  μ_gc / η̂_c 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μ_gc ~ F_g  （每个基因独立拟合）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每个基因独立估计其底层分布 F_g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这种框架的优势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26060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73152" cy="146304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每基因独立解读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count值在自己的F_g坐标系下评估，不受其他基因干扰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246120"/>
            <a:ext cx="26060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429000" y="3246120"/>
            <a:ext cx="73152" cy="146304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657600" y="3337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精确噪声模型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6576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Binomial采样作为已知通道纳入，不需要模型「学习」噪声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73152" cy="146304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46520" y="3337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保留全部信息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65760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不做log1p等有损变换，原始count的统计含义被充分利用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35" y="0"/>
            <a:ext cx="5255895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95" y="0"/>
            <a:ext cx="434721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460" y="0"/>
            <a:ext cx="381444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总 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3152" cy="4572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单细胞测序 = 对真实转录组的极稀疏伯努利采样（覆盖率2-30%）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47088"/>
            <a:ext cx="73152" cy="4572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" y="184708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噪声源可清晰分层：基因固定因子（自动消除）· 细胞效率（对数正态）· 伯努利采样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414016"/>
            <a:ext cx="73152" cy="4572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05840" y="2414016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count和log1p变换无法正确处理不同基因的异质性底层分布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80944"/>
            <a:ext cx="73152" cy="45720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980944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0: Poisson-LogNormal EM估计细胞效率 η̂_c → 基因间解耦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47872"/>
            <a:ext cx="73152" cy="45720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547872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1: 每个基因独立拟合底层分布 F_g → 在自己的坐标系下解读信号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核心理念：每个基因在自己底层分布的语境下被独立解读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1428</Words>
  <Application>Microsoft Office PowerPoint</Application>
  <PresentationFormat>全屏显示(16:9)</PresentationFormat>
  <Paragraphs>370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单细胞RNA测序：从技术流程到概率建模</dc:title>
  <dc:subject>PptxGenJS Presentation</dc:subject>
  <dc:creator>krkawzq</dc:creator>
  <cp:lastModifiedBy>Zhongqi Wang</cp:lastModifiedBy>
  <cp:revision>3</cp:revision>
  <dcterms:created xsi:type="dcterms:W3CDTF">2026-03-18T12:01:00Z</dcterms:created>
  <dcterms:modified xsi:type="dcterms:W3CDTF">2026-03-18T15:07:01Z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6E96AE0DCF1840B3A6C3E500877B1CB7_12</vt:lpwstr>
  </property>
  <property fmtid="{D5CDD505-2E9C-101B-9397-08002B2CF9AE}" pid="3" name="KSOProductBuildVer">
    <vt:lpwstr>2052-12.1.0.25225</vt:lpwstr>
  </property>
</Properties>
</file>